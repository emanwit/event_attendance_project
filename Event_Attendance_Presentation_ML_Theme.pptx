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95276" autoAdjust="0"/>
  </p:normalViewPr>
  <p:slideViewPr>
    <p:cSldViewPr snapToGrid="0" snapToObjects="1">
      <p:cViewPr varScale="1">
        <p:scale>
          <a:sx n="96" d="100"/>
          <a:sy n="96" d="100"/>
        </p:scale>
        <p:origin x="141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07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everyone. Today I’ll walk through my machine learning project where I built a predictive model to estimate event attendance at Augustana University. This ties my work as a Viking Advisor with neural networks and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slide I explain why this project matters. As an RA and student leader, I regularly plan events, and misjudging attendance can cause issues with supplies, space, and logistics. Machine learning offers a systematic solution to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 describe the dataset. It's a realistically constructed dataset of 500 events with attributes that truly influence attendance. The target variable we predict is actual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explains the workflow. We split data into training and testing. Categorical variables are one-hot encoded, numeric ones are scaled. We test several models ranging from simple to complex.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engineering was important. Weekend events or events with food/giveaways have predictable boosts in attendance. Encoding these properly helped the models learn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shows how each model performed. The Random Forest achieved the best R² values, though the neural network also performed well. This demonstrates the predictive power of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 explain the neural network used. It has multiple dense layers, batch normalization, and uses the Adam optimizer. It captures complex, nonlinear patterns that simpler models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walkthrough explains the major components of the code. It ensures the audience understands how the preprocessing, training, and evaluation work together to build the final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insights gained from the model results and feature importances. They reflect real-world intuition but are now supported by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highlights the broader significance. The project shows a real application of AI that improves campus operations and event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summary: the models worked well, especially Random Forest. Machine learning clearly helps solve the event attendance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8785"/>
            <a:ext cx="7772400" cy="1835540"/>
          </a:xfrm>
        </p:spPr>
        <p:txBody>
          <a:bodyPr/>
          <a:lstStyle/>
          <a:p>
            <a:r>
              <a:rPr sz="3800" dirty="0">
                <a:solidFill>
                  <a:srgbClr val="00C8FF"/>
                </a:solidFill>
              </a:rPr>
              <a:t>Predicting Campus Event Attendance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74325"/>
            <a:ext cx="6400800" cy="1395339"/>
          </a:xfrm>
        </p:spPr>
        <p:txBody>
          <a:bodyPr/>
          <a:lstStyle/>
          <a:p>
            <a:r>
              <a:rPr sz="3800" dirty="0">
                <a:solidFill>
                  <a:srgbClr val="00C8FF"/>
                </a:solidFill>
              </a:rPr>
              <a:t>Emmanuel Nwite</a:t>
            </a:r>
          </a:p>
        </p:txBody>
      </p:sp>
      <p:sp>
        <p:nvSpPr>
          <p:cNvPr id="4" name="AutoShape 2" descr="Image result for neural network diagram">
            <a:extLst>
              <a:ext uri="{FF2B5EF4-FFF2-40B4-BE49-F238E27FC236}">
                <a16:creationId xmlns:a16="http://schemas.microsoft.com/office/drawing/2014/main" id="{15358264-60EC-446C-6FD3-A59B34D971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7538" y="2571750"/>
            <a:ext cx="28289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neural network diagram">
            <a:extLst>
              <a:ext uri="{FF2B5EF4-FFF2-40B4-BE49-F238E27FC236}">
                <a16:creationId xmlns:a16="http://schemas.microsoft.com/office/drawing/2014/main" id="{EFD41F39-A5CF-DD3C-AAC6-1E92BBC24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19438" y="2571750"/>
            <a:ext cx="29051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F9DB0-368B-5451-D79B-E21078A8D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8156"/>
            <a:ext cx="9143999" cy="3489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solidFill>
                  <a:srgbClr val="00C8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241"/>
            <a:ext cx="8229600" cy="3011424"/>
          </a:xfrm>
        </p:spPr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Events are hard to plan when attendance is unpredictable</a:t>
            </a:r>
          </a:p>
          <a:p>
            <a:r>
              <a:rPr sz="2400" dirty="0">
                <a:solidFill>
                  <a:srgbClr val="DCDCDC"/>
                </a:solidFill>
              </a:rPr>
              <a:t>Goal: use ML to estimate attendance in advance</a:t>
            </a:r>
          </a:p>
          <a:p>
            <a:r>
              <a:rPr sz="2400" dirty="0">
                <a:solidFill>
                  <a:srgbClr val="DCDCDC"/>
                </a:solidFill>
              </a:rPr>
              <a:t>Helps with food ordering, space planning, and staffing</a:t>
            </a:r>
          </a:p>
          <a:p>
            <a:r>
              <a:rPr sz="2400" dirty="0">
                <a:solidFill>
                  <a:srgbClr val="DCDCDC"/>
                </a:solidFill>
              </a:rPr>
              <a:t>Applies directly to my work as an </a:t>
            </a:r>
            <a:r>
              <a:rPr lang="en-US" sz="2400" dirty="0">
                <a:solidFill>
                  <a:srgbClr val="DCDCDC"/>
                </a:solidFill>
              </a:rPr>
              <a:t>event planner</a:t>
            </a:r>
            <a:endParaRPr sz="2400" dirty="0">
              <a:solidFill>
                <a:srgbClr val="DCDCDC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4032B-C808-9453-54D6-B85D03FE8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4" y="3626467"/>
            <a:ext cx="9065196" cy="32315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5089"/>
            <a:ext cx="8229600" cy="2343912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500 </a:t>
            </a:r>
            <a:r>
              <a:rPr lang="en-US" sz="2400" dirty="0">
                <a:solidFill>
                  <a:srgbClr val="DCDCDC"/>
                </a:solidFill>
              </a:rPr>
              <a:t>mostly </a:t>
            </a:r>
            <a:r>
              <a:rPr sz="2400" dirty="0">
                <a:solidFill>
                  <a:srgbClr val="DCDCDC"/>
                </a:solidFill>
              </a:rPr>
              <a:t>realistic Augustana campus events</a:t>
            </a:r>
          </a:p>
          <a:p>
            <a:r>
              <a:rPr sz="2400" dirty="0">
                <a:solidFill>
                  <a:srgbClr val="DCDCDC"/>
                </a:solidFill>
              </a:rPr>
              <a:t>Features: event type, category, food, giveaways, promotion, weather</a:t>
            </a:r>
          </a:p>
          <a:p>
            <a:r>
              <a:rPr sz="2400" dirty="0">
                <a:solidFill>
                  <a:srgbClr val="DCDCDC"/>
                </a:solidFill>
              </a:rPr>
              <a:t>Temporal features: Day, Time, Month, Weekend</a:t>
            </a:r>
          </a:p>
          <a:p>
            <a:r>
              <a:rPr sz="2400" dirty="0">
                <a:solidFill>
                  <a:srgbClr val="DCDCDC"/>
                </a:solidFill>
              </a:rPr>
              <a:t>Target variable: actual attendance</a:t>
            </a:r>
            <a:r>
              <a:rPr lang="en-US" sz="2400" dirty="0">
                <a:solidFill>
                  <a:srgbClr val="DCDCDC"/>
                </a:solidFill>
              </a:rPr>
              <a:t> of people at each event.</a:t>
            </a:r>
            <a:endParaRPr sz="2400" dirty="0">
              <a:solidFill>
                <a:srgbClr val="DCDCD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B505F2-390E-BCD5-8C25-5C3A11C29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3785"/>
            <a:ext cx="9144000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97424" cy="4525963"/>
          </a:xfrm>
        </p:spPr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Train/Test split (80/20)</a:t>
            </a:r>
          </a:p>
          <a:p>
            <a:r>
              <a:rPr sz="2400" dirty="0">
                <a:solidFill>
                  <a:srgbClr val="DCDCDC"/>
                </a:solidFill>
              </a:rPr>
              <a:t>Preprocessing: scaling </a:t>
            </a:r>
            <a:r>
              <a:rPr lang="en-US" sz="2400" dirty="0">
                <a:solidFill>
                  <a:srgbClr val="DCDCDC"/>
                </a:solidFill>
              </a:rPr>
              <a:t>and</a:t>
            </a:r>
            <a:r>
              <a:rPr sz="2400" dirty="0">
                <a:solidFill>
                  <a:srgbClr val="DCDCDC"/>
                </a:solidFill>
              </a:rPr>
              <a:t> one-hot encoding</a:t>
            </a:r>
          </a:p>
          <a:p>
            <a:r>
              <a:rPr sz="2400" dirty="0">
                <a:solidFill>
                  <a:srgbClr val="DCDCDC"/>
                </a:solidFill>
              </a:rPr>
              <a:t>Models tested:</a:t>
            </a:r>
          </a:p>
          <a:p>
            <a:r>
              <a:rPr sz="2400" dirty="0">
                <a:solidFill>
                  <a:srgbClr val="DCDCDC"/>
                </a:solidFill>
              </a:rPr>
              <a:t>- Dummy baseline</a:t>
            </a:r>
          </a:p>
          <a:p>
            <a:r>
              <a:rPr sz="2400" dirty="0">
                <a:solidFill>
                  <a:srgbClr val="DCDCDC"/>
                </a:solidFill>
              </a:rPr>
              <a:t>- Linear Regression</a:t>
            </a:r>
          </a:p>
          <a:p>
            <a:r>
              <a:rPr sz="2400" dirty="0">
                <a:solidFill>
                  <a:srgbClr val="DCDCDC"/>
                </a:solidFill>
              </a:rPr>
              <a:t>- Decision Tree &amp; Random Forest</a:t>
            </a:r>
          </a:p>
          <a:p>
            <a:r>
              <a:rPr sz="2400" dirty="0">
                <a:solidFill>
                  <a:srgbClr val="DCDCDC"/>
                </a:solidFill>
              </a:rPr>
              <a:t>-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09125-D5E9-00E7-D90C-CBA5B710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28" y="1220102"/>
            <a:ext cx="3852672" cy="5637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solidFill>
                  <a:srgbClr val="00C8FF"/>
                </a:solidFill>
              </a:rPr>
              <a:t>Feature Engineering</a:t>
            </a:r>
            <a:r>
              <a:rPr lang="en-US" sz="4000" dirty="0">
                <a:solidFill>
                  <a:srgbClr val="00C8FF"/>
                </a:solidFill>
              </a:rPr>
              <a:t>/Findings</a:t>
            </a:r>
            <a:endParaRPr sz="4000" dirty="0">
              <a:solidFill>
                <a:srgbClr val="00C8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Weekend flag </a:t>
            </a:r>
            <a:r>
              <a:rPr lang="en-US" sz="2400" dirty="0">
                <a:solidFill>
                  <a:srgbClr val="DCDCDC"/>
                </a:solidFill>
              </a:rPr>
              <a:t>and</a:t>
            </a:r>
            <a:r>
              <a:rPr sz="2400" dirty="0">
                <a:solidFill>
                  <a:srgbClr val="DCDCDC"/>
                </a:solidFill>
              </a:rPr>
              <a:t> weekend events tend to be higher</a:t>
            </a:r>
          </a:p>
          <a:p>
            <a:r>
              <a:rPr sz="2400" dirty="0">
                <a:solidFill>
                  <a:srgbClr val="DCDCDC"/>
                </a:solidFill>
              </a:rPr>
              <a:t>Time of day encoded numerically</a:t>
            </a:r>
          </a:p>
          <a:p>
            <a:r>
              <a:rPr sz="2400" dirty="0">
                <a:solidFill>
                  <a:srgbClr val="DCDCDC"/>
                </a:solidFill>
              </a:rPr>
              <a:t>Free food &amp; giveaways treated as categorical features</a:t>
            </a:r>
          </a:p>
          <a:p>
            <a:r>
              <a:rPr sz="2400" dirty="0">
                <a:solidFill>
                  <a:srgbClr val="DCDCDC"/>
                </a:solidFill>
              </a:rPr>
              <a:t>All features passed through preprocessing pipeline</a:t>
            </a:r>
            <a:endParaRPr lang="en-US" sz="2400" dirty="0">
              <a:solidFill>
                <a:srgbClr val="DCDCDC"/>
              </a:solidFill>
            </a:endParaRPr>
          </a:p>
          <a:p>
            <a:r>
              <a:rPr lang="en-US" sz="2400" dirty="0">
                <a:solidFill>
                  <a:srgbClr val="DCDCDC"/>
                </a:solidFill>
              </a:rPr>
              <a:t>Numbers wee generated based on the dataset distribution.</a:t>
            </a:r>
            <a:endParaRPr sz="2400" dirty="0">
              <a:solidFill>
                <a:srgbClr val="DCDCD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Dummy baseline R² ≈ 0</a:t>
            </a:r>
          </a:p>
          <a:p>
            <a:r>
              <a:rPr sz="2400" dirty="0">
                <a:solidFill>
                  <a:srgbClr val="DCDCDC"/>
                </a:solidFill>
              </a:rPr>
              <a:t>Linear Regression: R² ≈ 0</a:t>
            </a:r>
            <a:r>
              <a:rPr lang="en-US" sz="2400" dirty="0">
                <a:solidFill>
                  <a:srgbClr val="DCDCDC"/>
                </a:solidFill>
              </a:rPr>
              <a:t>.642</a:t>
            </a:r>
            <a:endParaRPr sz="2400" dirty="0">
              <a:solidFill>
                <a:srgbClr val="DCDCDC"/>
              </a:solidFill>
            </a:endParaRPr>
          </a:p>
          <a:p>
            <a:r>
              <a:rPr sz="2400" dirty="0">
                <a:solidFill>
                  <a:srgbClr val="DCDCDC"/>
                </a:solidFill>
              </a:rPr>
              <a:t>Decision Tree: R² ≈ 0</a:t>
            </a:r>
            <a:r>
              <a:rPr lang="en-US" sz="2400" dirty="0">
                <a:solidFill>
                  <a:srgbClr val="DCDCDC"/>
                </a:solidFill>
              </a:rPr>
              <a:t>.641</a:t>
            </a:r>
            <a:endParaRPr sz="2400" dirty="0">
              <a:solidFill>
                <a:srgbClr val="DCDCDC"/>
              </a:solidFill>
            </a:endParaRPr>
          </a:p>
          <a:p>
            <a:r>
              <a:rPr sz="2400" dirty="0">
                <a:solidFill>
                  <a:srgbClr val="DCDCDC"/>
                </a:solidFill>
              </a:rPr>
              <a:t>Random Forest: R² ≈ 0.</a:t>
            </a:r>
            <a:r>
              <a:rPr lang="en-US" sz="2400" dirty="0">
                <a:solidFill>
                  <a:srgbClr val="DCDCDC"/>
                </a:solidFill>
              </a:rPr>
              <a:t>649</a:t>
            </a:r>
            <a:r>
              <a:rPr sz="2400" dirty="0">
                <a:solidFill>
                  <a:srgbClr val="DCDCDC"/>
                </a:solidFill>
              </a:rPr>
              <a:t> (Best performer)</a:t>
            </a:r>
          </a:p>
          <a:p>
            <a:r>
              <a:rPr sz="2400" dirty="0">
                <a:solidFill>
                  <a:srgbClr val="DCDCDC"/>
                </a:solidFill>
              </a:rPr>
              <a:t>Neural Network: R² ≈ 0.55–0.75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Neural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61232" cy="4525963"/>
          </a:xfrm>
        </p:spPr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Layers: 128 → 64 → 32 units</a:t>
            </a:r>
          </a:p>
          <a:p>
            <a:r>
              <a:rPr sz="2400" dirty="0" err="1">
                <a:solidFill>
                  <a:srgbClr val="DCDCDC"/>
                </a:solidFill>
              </a:rPr>
              <a:t>ReLU</a:t>
            </a:r>
            <a:r>
              <a:rPr sz="2400" dirty="0">
                <a:solidFill>
                  <a:srgbClr val="DCDCDC"/>
                </a:solidFill>
              </a:rPr>
              <a:t> activations </a:t>
            </a:r>
            <a:r>
              <a:rPr lang="en-US" sz="2400" dirty="0">
                <a:solidFill>
                  <a:srgbClr val="DCDCDC"/>
                </a:solidFill>
              </a:rPr>
              <a:t>and</a:t>
            </a:r>
            <a:r>
              <a:rPr sz="2400" dirty="0">
                <a:solidFill>
                  <a:srgbClr val="DCDCDC"/>
                </a:solidFill>
              </a:rPr>
              <a:t> Batch Normalization</a:t>
            </a:r>
          </a:p>
          <a:p>
            <a:r>
              <a:rPr sz="2400" dirty="0">
                <a:solidFill>
                  <a:srgbClr val="DCDCDC"/>
                </a:solidFill>
              </a:rPr>
              <a:t>Adam optimizer with Early Stopping</a:t>
            </a:r>
          </a:p>
          <a:p>
            <a:r>
              <a:rPr sz="2400" dirty="0">
                <a:solidFill>
                  <a:srgbClr val="DCDCDC"/>
                </a:solidFill>
              </a:rPr>
              <a:t>Captures nonlinear relationships between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E37B9-60B3-2126-07BC-7AA9AD41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246" y="1714175"/>
            <a:ext cx="4911970" cy="46488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solidFill>
                  <a:srgbClr val="00C8FF"/>
                </a:solidFill>
              </a:rPr>
              <a:t>Code Walkthrough (Key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35002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Load dataset using pandas (Excel file)</a:t>
            </a:r>
          </a:p>
          <a:p>
            <a:r>
              <a:rPr sz="2400" dirty="0">
                <a:solidFill>
                  <a:srgbClr val="DCDCDC"/>
                </a:solidFill>
              </a:rPr>
              <a:t>Build preprocessing pipeline (</a:t>
            </a:r>
            <a:r>
              <a:rPr sz="2400" dirty="0" err="1">
                <a:solidFill>
                  <a:srgbClr val="DCDCDC"/>
                </a:solidFill>
              </a:rPr>
              <a:t>OneHotEncoder</a:t>
            </a:r>
            <a:r>
              <a:rPr sz="2400" dirty="0">
                <a:solidFill>
                  <a:srgbClr val="DCDCDC"/>
                </a:solidFill>
              </a:rPr>
              <a:t> + </a:t>
            </a:r>
            <a:r>
              <a:rPr sz="2400" dirty="0" err="1">
                <a:solidFill>
                  <a:srgbClr val="DCDCDC"/>
                </a:solidFill>
              </a:rPr>
              <a:t>StandardScaler</a:t>
            </a:r>
            <a:r>
              <a:rPr sz="2400" dirty="0">
                <a:solidFill>
                  <a:srgbClr val="DCDCDC"/>
                </a:solidFill>
              </a:rPr>
              <a:t>)</a:t>
            </a:r>
          </a:p>
          <a:p>
            <a:r>
              <a:rPr sz="2400" dirty="0">
                <a:solidFill>
                  <a:srgbClr val="DCDCDC"/>
                </a:solidFill>
              </a:rPr>
              <a:t>Train baseline and tree models using </a:t>
            </a:r>
            <a:r>
              <a:rPr sz="2400" dirty="0" err="1">
                <a:solidFill>
                  <a:srgbClr val="DCDCDC"/>
                </a:solidFill>
              </a:rPr>
              <a:t>sklearn</a:t>
            </a:r>
            <a:r>
              <a:rPr sz="2400" dirty="0">
                <a:solidFill>
                  <a:srgbClr val="DCDCDC"/>
                </a:solidFill>
              </a:rPr>
              <a:t> pipelines</a:t>
            </a:r>
          </a:p>
          <a:p>
            <a:r>
              <a:rPr sz="2400" dirty="0">
                <a:solidFill>
                  <a:srgbClr val="DCDCDC"/>
                </a:solidFill>
              </a:rPr>
              <a:t>Prepare NumPy arrays for neural network training</a:t>
            </a:r>
          </a:p>
          <a:p>
            <a:r>
              <a:rPr sz="2400" dirty="0">
                <a:solidFill>
                  <a:srgbClr val="DCDCDC"/>
                </a:solidFill>
              </a:rPr>
              <a:t>Use </a:t>
            </a:r>
            <a:r>
              <a:rPr sz="2400" dirty="0" err="1">
                <a:solidFill>
                  <a:srgbClr val="DCDCDC"/>
                </a:solidFill>
              </a:rPr>
              <a:t>Keras</a:t>
            </a:r>
            <a:r>
              <a:rPr sz="2400" dirty="0">
                <a:solidFill>
                  <a:srgbClr val="DCDCDC"/>
                </a:solidFill>
              </a:rPr>
              <a:t> for model building, training, and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2DDD5-C3E2-F397-6937-192B69DE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64" y="1667361"/>
            <a:ext cx="4174435" cy="5107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Insights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90544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Free food strongly increases attendance</a:t>
            </a:r>
          </a:p>
          <a:p>
            <a:r>
              <a:rPr sz="2400" dirty="0">
                <a:solidFill>
                  <a:srgbClr val="DCDCDC"/>
                </a:solidFill>
              </a:rPr>
              <a:t>Social Media is the most effective promotion method</a:t>
            </a:r>
          </a:p>
          <a:p>
            <a:r>
              <a:rPr sz="2400" dirty="0">
                <a:solidFill>
                  <a:srgbClr val="DCDCDC"/>
                </a:solidFill>
              </a:rPr>
              <a:t>Competition and social events attract more students</a:t>
            </a:r>
          </a:p>
          <a:p>
            <a:r>
              <a:rPr sz="2400" dirty="0">
                <a:solidFill>
                  <a:srgbClr val="DCDCDC"/>
                </a:solidFill>
              </a:rPr>
              <a:t>Weekend events consistently draw higher turnout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2AD54-6FD3-20F0-B68C-A2592D6AE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828" y="1780945"/>
            <a:ext cx="4491972" cy="1486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051E3-605B-DA2C-1A5C-A675F0EEC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828" y="3267456"/>
            <a:ext cx="4491972" cy="1680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66675-BCB0-3BBF-00AB-4EFADF22A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828" y="4948448"/>
            <a:ext cx="4491972" cy="1634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Significance for ML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400" dirty="0">
                <a:solidFill>
                  <a:srgbClr val="DCDCDC"/>
                </a:solidFill>
              </a:rPr>
              <a:t>Demonstrates applied machine learning on real-life data</a:t>
            </a:r>
          </a:p>
          <a:p>
            <a:r>
              <a:rPr sz="2400" dirty="0">
                <a:solidFill>
                  <a:srgbClr val="DCDCDC"/>
                </a:solidFill>
              </a:rPr>
              <a:t>Shows how feature engineering drives performance</a:t>
            </a:r>
          </a:p>
          <a:p>
            <a:r>
              <a:rPr sz="2400" dirty="0">
                <a:solidFill>
                  <a:srgbClr val="DCDCDC"/>
                </a:solidFill>
              </a:rPr>
              <a:t>Connects neural networks to a practical, everyday problem</a:t>
            </a:r>
          </a:p>
          <a:p>
            <a:r>
              <a:rPr sz="2400" dirty="0">
                <a:solidFill>
                  <a:srgbClr val="DCDCDC"/>
                </a:solidFill>
              </a:rPr>
              <a:t>Useful tool for </a:t>
            </a:r>
            <a:r>
              <a:rPr lang="en-US" sz="2400" dirty="0">
                <a:solidFill>
                  <a:srgbClr val="DCDCDC"/>
                </a:solidFill>
              </a:rPr>
              <a:t>V</a:t>
            </a:r>
            <a:r>
              <a:rPr sz="2400" dirty="0">
                <a:solidFill>
                  <a:srgbClr val="DCDCDC"/>
                </a:solidFill>
              </a:rPr>
              <a:t>As, clubs, and campus planners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solidFill>
                  <a:srgbClr val="00C8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400">
                <a:solidFill>
                  <a:srgbClr val="DCDCDC"/>
                </a:solidFill>
              </a:rPr>
              <a:t>Random Forest performed best overall</a:t>
            </a:r>
          </a:p>
          <a:p>
            <a:r>
              <a:rPr sz="2400">
                <a:solidFill>
                  <a:srgbClr val="DCDCDC"/>
                </a:solidFill>
              </a:rPr>
              <a:t>Neural Networks also delivered strong results</a:t>
            </a:r>
          </a:p>
          <a:p>
            <a:r>
              <a:rPr sz="2400">
                <a:solidFill>
                  <a:srgbClr val="DCDCDC"/>
                </a:solidFill>
              </a:rPr>
              <a:t>ML can support better event planning and logistics</a:t>
            </a:r>
          </a:p>
          <a:p>
            <a:r>
              <a:rPr sz="2400">
                <a:solidFill>
                  <a:srgbClr val="DCDCDC"/>
                </a:solidFill>
              </a:rPr>
              <a:t>Future work: RSVP data, weather APIs, larger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719</Words>
  <Application>Microsoft Office PowerPoint</Application>
  <PresentationFormat>On-screen Show (4:3)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Predicting Campus Event Attendance Using Machine Learning</vt:lpstr>
      <vt:lpstr>Introduction</vt:lpstr>
      <vt:lpstr>Dataset Overview</vt:lpstr>
      <vt:lpstr>Methodology</vt:lpstr>
      <vt:lpstr>Feature Engineering/Findings</vt:lpstr>
      <vt:lpstr>Results: Model Performance</vt:lpstr>
      <vt:lpstr>Neural Network Architecture</vt:lpstr>
      <vt:lpstr>Code Walkthrough (Key Steps)</vt:lpstr>
      <vt:lpstr>Insights &amp; Interpretation</vt:lpstr>
      <vt:lpstr>Significance for ML &amp; AI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Nwite</cp:lastModifiedBy>
  <cp:revision>2</cp:revision>
  <dcterms:created xsi:type="dcterms:W3CDTF">2013-01-27T09:14:16Z</dcterms:created>
  <dcterms:modified xsi:type="dcterms:W3CDTF">2025-12-09T00:38:15Z</dcterms:modified>
  <cp:category/>
</cp:coreProperties>
</file>